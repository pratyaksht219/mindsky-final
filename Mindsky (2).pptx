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Marcellus" panose="020B0604020202020204" charset="0"/>
      <p:regular r:id="rId17"/>
    </p:embeddedFont>
    <p:embeddedFont>
      <p:font typeface="Montserrat" panose="00000500000000000000" pitchFamily="2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247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26543"/>
            <a:ext cx="4075807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Mindsky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3925119" y="2368972"/>
            <a:ext cx="4722763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Intelligent Mental Health Assessment &amp; Crisis Response Platform</a:t>
            </a: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Bridging the gap between self-assessment and clinical support through AI, automation, and real-time emergency response.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274963"/>
            <a:ext cx="1367954" cy="232395"/>
          </a:xfrm>
          <a:prstGeom prst="roundRect">
            <a:avLst>
              <a:gd name="adj" fmla="val 20497"/>
            </a:avLst>
          </a:prstGeom>
          <a:solidFill>
            <a:srgbClr val="FFE0CC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317453"/>
            <a:ext cx="1197843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CAPSTONE PROJECT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363914" y="3265438"/>
            <a:ext cx="2083891" cy="251445"/>
          </a:xfrm>
          <a:prstGeom prst="roundRect">
            <a:avLst>
              <a:gd name="adj" fmla="val 18944"/>
            </a:avLst>
          </a:prstGeom>
          <a:noFill/>
          <a:ln w="9525">
            <a:solidFill>
              <a:srgbClr val="FF95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58495" y="3317453"/>
            <a:ext cx="1894731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5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MICROSERVICES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5162" y="461739"/>
            <a:ext cx="4644777" cy="49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The Problem We're Solving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65162" y="1145307"/>
            <a:ext cx="4784675" cy="50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Mental health crises are global — yet the tools to address them remain </a:t>
            </a:r>
            <a:r>
              <a:rPr lang="en-US" sz="10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fragmented, inaccessible, and reactive</a:t>
            </a: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leaving billions without structured, intelligent support.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65162" y="1853952"/>
            <a:ext cx="2314426" cy="438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3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1B+</a:t>
            </a:r>
            <a:endParaRPr lang="en-US" sz="3450" dirty="0"/>
          </a:p>
        </p:txBody>
      </p:sp>
      <p:sp>
        <p:nvSpPr>
          <p:cNvPr id="6" name="Text 3"/>
          <p:cNvSpPr/>
          <p:nvPr/>
        </p:nvSpPr>
        <p:spPr>
          <a:xfrm>
            <a:off x="667122" y="2452315"/>
            <a:ext cx="1910507" cy="24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People Affected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65162" y="2775347"/>
            <a:ext cx="2314426" cy="334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with a diagnosable mental health disorder globally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935337" y="1853952"/>
            <a:ext cx="2314501" cy="438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3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</a:t>
            </a:r>
            <a:endParaRPr lang="en-US" sz="3450" dirty="0"/>
          </a:p>
        </p:txBody>
      </p:sp>
      <p:sp>
        <p:nvSpPr>
          <p:cNvPr id="9" name="Text 6"/>
          <p:cNvSpPr/>
          <p:nvPr/>
        </p:nvSpPr>
        <p:spPr>
          <a:xfrm>
            <a:off x="3137297" y="2452315"/>
            <a:ext cx="1910507" cy="24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Seamless Bridge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935337" y="2775347"/>
            <a:ext cx="2314501" cy="334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Between self-reporting symptoms and real-time crisis intervention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700213" y="3425651"/>
            <a:ext cx="2314501" cy="438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3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∞</a:t>
            </a:r>
            <a:endParaRPr lang="en-US" sz="3450" dirty="0"/>
          </a:p>
        </p:txBody>
      </p:sp>
      <p:sp>
        <p:nvSpPr>
          <p:cNvPr id="12" name="Text 9"/>
          <p:cNvSpPr/>
          <p:nvPr/>
        </p:nvSpPr>
        <p:spPr>
          <a:xfrm>
            <a:off x="1902172" y="4024015"/>
            <a:ext cx="1910507" cy="24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Care Gap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700213" y="4347046"/>
            <a:ext cx="2314501" cy="334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Severe global shortage of psychiatrists and psychologists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0132"/>
            <a:ext cx="4075807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What Is Mindsky?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96119" y="1393478"/>
            <a:ext cx="815176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fully containerised, </a:t>
            </a: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production-grade microservices platform</a:t>
            </a: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delivering end-to-end mental health support — from initial screening to emergency dispatch.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921446"/>
            <a:ext cx="283518" cy="283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382143"/>
            <a:ext cx="217564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Psychological Screening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96119" y="2732112"/>
            <a:ext cx="3987254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GAD-7 and MSPSS assessments with intelligent domain routing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921446"/>
            <a:ext cx="283518" cy="283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0553" y="2382143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AI Clinical Summaries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660553" y="2732112"/>
            <a:ext cx="3987329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Personalised insights generated via a RAG pipeline using LangChain and Groq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384128"/>
            <a:ext cx="283518" cy="283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844826"/>
            <a:ext cx="2048470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Gamified Engagement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96119" y="4194795"/>
            <a:ext cx="3987254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XP, streaks, and mood tracking to encourage consistent mental health habits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3384128"/>
            <a:ext cx="283518" cy="2835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60553" y="3844826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Crisis Response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4660553" y="4194795"/>
            <a:ext cx="3987329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Twilio SMS/Voice dispatch with PostGIS geospatial routing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605" y="282699"/>
            <a:ext cx="2929458" cy="380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System Architecture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6605" y="809997"/>
            <a:ext cx="7030715" cy="113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Nine independent microservices communicate over a </a:t>
            </a:r>
            <a:r>
              <a:rPr lang="en-US" sz="8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Docker internal network</a:t>
            </a: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each encapsulating a distinct domain responsibility.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05" y="1088529"/>
            <a:ext cx="3027090" cy="302709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605" y="1088529"/>
            <a:ext cx="3027090" cy="302709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37000" y="2303264"/>
            <a:ext cx="146469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Nine Microservices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337000" y="2566839"/>
            <a:ext cx="3755008" cy="341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service is independently deployable, fault-isolated, and communicates through well-defined internal APIs — ensuring resilience and scalability at every layer.</a:t>
            </a:r>
            <a:endParaRPr lang="en-US" sz="800" dirty="0"/>
          </a:p>
        </p:txBody>
      </p:sp>
      <p:sp>
        <p:nvSpPr>
          <p:cNvPr id="8" name="Shape 4"/>
          <p:cNvSpPr/>
          <p:nvPr/>
        </p:nvSpPr>
        <p:spPr>
          <a:xfrm>
            <a:off x="1056605" y="4280371"/>
            <a:ext cx="1702743" cy="580355"/>
          </a:xfrm>
          <a:prstGeom prst="roundRect">
            <a:avLst>
              <a:gd name="adj" fmla="val 7374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172766" y="4396532"/>
            <a:ext cx="146469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Frontend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172766" y="4630787"/>
            <a:ext cx="1470422" cy="113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 19 + Vite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2832571" y="4280371"/>
            <a:ext cx="1702743" cy="580355"/>
          </a:xfrm>
          <a:prstGeom prst="roundRect">
            <a:avLst>
              <a:gd name="adj" fmla="val 7374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948732" y="4396532"/>
            <a:ext cx="146469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Gateway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948732" y="4630787"/>
            <a:ext cx="1470422" cy="113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Spring Boot + Redis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4608537" y="4280371"/>
            <a:ext cx="1702743" cy="580355"/>
          </a:xfrm>
          <a:prstGeom prst="roundRect">
            <a:avLst>
              <a:gd name="adj" fmla="val 7374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24698" y="4396532"/>
            <a:ext cx="146469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ML Engine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724698" y="4630787"/>
            <a:ext cx="1470422" cy="113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FastAPI + Transformers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6384503" y="4280371"/>
            <a:ext cx="1702817" cy="580355"/>
          </a:xfrm>
          <a:prstGeom prst="roundRect">
            <a:avLst>
              <a:gd name="adj" fmla="val 7374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500664" y="4396532"/>
            <a:ext cx="146469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Emergency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500664" y="4630787"/>
            <a:ext cx="1470496" cy="113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PostGIS + Twilio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301451"/>
            <a:ext cx="2993157" cy="389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3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ML Screening Engine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980182" y="843335"/>
            <a:ext cx="1350392" cy="156195"/>
          </a:xfrm>
          <a:prstGeom prst="roundRect">
            <a:avLst>
              <a:gd name="adj" fmla="val 22396"/>
            </a:avLst>
          </a:prstGeom>
          <a:solidFill>
            <a:srgbClr val="FFE0CC"/>
          </a:solidFill>
          <a:ln/>
        </p:spPr>
      </p:sp>
      <p:sp>
        <p:nvSpPr>
          <p:cNvPr id="4" name="Text 2"/>
          <p:cNvSpPr/>
          <p:nvPr/>
        </p:nvSpPr>
        <p:spPr>
          <a:xfrm>
            <a:off x="1042615" y="874514"/>
            <a:ext cx="1225525" cy="9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ZERO-SHOT CLASSIFICATION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980182" y="1085478"/>
            <a:ext cx="7183562" cy="234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labelled training data required. The engine uses </a:t>
            </a:r>
            <a:r>
              <a:rPr lang="en-US" sz="8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cosine similarity over sentence embeddings</a:t>
            </a: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dynamically select the most relevant psychological questionnaire for each user.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182" y="1406128"/>
            <a:ext cx="7183562" cy="32325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62292" y="1474768"/>
            <a:ext cx="1257101" cy="232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Encode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062292" y="1762278"/>
            <a:ext cx="1257101" cy="40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 user response with all-MiniLM-L6-v2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55075" y="2421048"/>
            <a:ext cx="278444" cy="2784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05580" y="3899178"/>
            <a:ext cx="1264009" cy="232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Compare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305580" y="4186688"/>
            <a:ext cx="1264009" cy="40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Compute cosine similarity to prototype banks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98362" y="3436399"/>
            <a:ext cx="278445" cy="27844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35053" y="1383248"/>
            <a:ext cx="1257102" cy="232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Identify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535053" y="1670758"/>
            <a:ext cx="1257102" cy="538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 highest-scoring psychological domain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48556" y="2393419"/>
            <a:ext cx="278444" cy="27844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778340" y="3899178"/>
            <a:ext cx="1257101" cy="232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Route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5778340" y="4186688"/>
            <a:ext cx="1257101" cy="40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 /classify to deliver targeted questionnaire</a:t>
            </a:r>
            <a:endParaRPr lang="en-US" sz="9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71122" y="3436399"/>
            <a:ext cx="278445" cy="27844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80182" y="4724623"/>
            <a:ext cx="7183562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Easily extensible — adding new psychological domains requires only new prototype statements, with no model retraining.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0840" y="365596"/>
            <a:ext cx="3897064" cy="438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6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AI Service &amp; RAG Pipeline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410840" y="843186"/>
            <a:ext cx="3225626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FF95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Context-Aware Clinical Insight Generation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10840" y="1208336"/>
            <a:ext cx="234776" cy="1525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0840" y="1399356"/>
            <a:ext cx="4893320" cy="14288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7" name="Text 4"/>
          <p:cNvSpPr/>
          <p:nvPr/>
        </p:nvSpPr>
        <p:spPr>
          <a:xfrm>
            <a:off x="410840" y="1486570"/>
            <a:ext cx="1687637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Request Ingestion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0840" y="1764209"/>
            <a:ext cx="4893320" cy="139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Assessment results submitted to the FastAPI AI service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10840" y="2088952"/>
            <a:ext cx="234776" cy="1525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10840" y="2279972"/>
            <a:ext cx="4893320" cy="14288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1" name="Text 8"/>
          <p:cNvSpPr/>
          <p:nvPr/>
        </p:nvSpPr>
        <p:spPr>
          <a:xfrm>
            <a:off x="410840" y="2367186"/>
            <a:ext cx="1687637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ChromaDB Retrieval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0840" y="2644825"/>
            <a:ext cx="4893320" cy="139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6 clinically relevant documents retrieved via all-mpnet-base-v2 embeddings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10840" y="2969568"/>
            <a:ext cx="234776" cy="1525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10840" y="3160588"/>
            <a:ext cx="4893320" cy="14288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5" name="Text 12"/>
          <p:cNvSpPr/>
          <p:nvPr/>
        </p:nvSpPr>
        <p:spPr>
          <a:xfrm>
            <a:off x="410840" y="3247802"/>
            <a:ext cx="1687637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Prompt Construction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10840" y="3525441"/>
            <a:ext cx="4893320" cy="139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clinical prompt assembled with context and user history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10840" y="3850184"/>
            <a:ext cx="234776" cy="1525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10840" y="4041204"/>
            <a:ext cx="4893320" cy="14288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9" name="Text 16"/>
          <p:cNvSpPr/>
          <p:nvPr/>
        </p:nvSpPr>
        <p:spPr>
          <a:xfrm>
            <a:off x="410840" y="4128418"/>
            <a:ext cx="1687637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LLM Call &amp; Validation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10840" y="4406057"/>
            <a:ext cx="4893320" cy="283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Groq/OpenRouter API generates response, validated against </a:t>
            </a:r>
            <a:r>
              <a:rPr lang="en-US" sz="9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AiServiceResponse</a:t>
            </a: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schema. Prometheus tracks latency and failures.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74824"/>
            <a:ext cx="4508674" cy="488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9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Emergency Crisis Response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49" y="1179388"/>
            <a:ext cx="3955256" cy="22223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6157" y="1869430"/>
            <a:ext cx="2562969" cy="24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FF95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Real-Time Geospatial Dispatch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736157" y="2234133"/>
            <a:ext cx="3955256" cy="48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a crisis is detected, Mindsky triggers immediate action — resolving the user's district via </a:t>
            </a:r>
            <a:r>
              <a:rPr lang="en-US" sz="10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PostGIS spatial queries</a:t>
            </a: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dispatching support via Twilio.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349" y="3672706"/>
            <a:ext cx="2662758" cy="1095970"/>
          </a:xfrm>
          <a:prstGeom prst="roundRect">
            <a:avLst>
              <a:gd name="adj" fmla="val 6257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43061" y="3672706"/>
            <a:ext cx="57150" cy="1095970"/>
          </a:xfrm>
          <a:prstGeom prst="roundRect">
            <a:avLst>
              <a:gd name="adj" fmla="val 96046"/>
            </a:avLst>
          </a:prstGeom>
          <a:solidFill>
            <a:srgbClr val="FF954F"/>
          </a:solidFill>
          <a:ln/>
        </p:spPr>
      </p:sp>
      <p:sp>
        <p:nvSpPr>
          <p:cNvPr id="8" name="Text 5"/>
          <p:cNvSpPr/>
          <p:nvPr/>
        </p:nvSpPr>
        <p:spPr>
          <a:xfrm>
            <a:off x="645170" y="3817665"/>
            <a:ext cx="1878657" cy="24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Voice Support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45170" y="4134148"/>
            <a:ext cx="2329979" cy="32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/crisis/call</a:t>
            </a: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triggers Twilio voice dispatch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0584" y="3672706"/>
            <a:ext cx="2662758" cy="1095970"/>
          </a:xfrm>
          <a:prstGeom prst="roundRect">
            <a:avLst>
              <a:gd name="adj" fmla="val 6257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26296" y="3672706"/>
            <a:ext cx="57150" cy="1095970"/>
          </a:xfrm>
          <a:prstGeom prst="roundRect">
            <a:avLst>
              <a:gd name="adj" fmla="val 96046"/>
            </a:avLst>
          </a:prstGeom>
          <a:solidFill>
            <a:srgbClr val="FF954F"/>
          </a:solidFill>
          <a:ln/>
        </p:spPr>
      </p:sp>
      <p:sp>
        <p:nvSpPr>
          <p:cNvPr id="12" name="Text 9"/>
          <p:cNvSpPr/>
          <p:nvPr/>
        </p:nvSpPr>
        <p:spPr>
          <a:xfrm>
            <a:off x="3428405" y="3817665"/>
            <a:ext cx="1878657" cy="24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SMS Routing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3428405" y="4134148"/>
            <a:ext cx="2329979" cy="32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/crisis/sendSms</a:t>
            </a: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resolves district via PostGIS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23818" y="3672706"/>
            <a:ext cx="2662758" cy="1095970"/>
          </a:xfrm>
          <a:prstGeom prst="roundRect">
            <a:avLst>
              <a:gd name="adj" fmla="val 6257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09531" y="3672706"/>
            <a:ext cx="57150" cy="1095970"/>
          </a:xfrm>
          <a:prstGeom prst="roundRect">
            <a:avLst>
              <a:gd name="adj" fmla="val 96046"/>
            </a:avLst>
          </a:prstGeom>
          <a:solidFill>
            <a:srgbClr val="FF954F"/>
          </a:solidFill>
          <a:ln/>
        </p:spPr>
      </p:sp>
      <p:sp>
        <p:nvSpPr>
          <p:cNvPr id="16" name="Text 13"/>
          <p:cNvSpPr/>
          <p:nvPr/>
        </p:nvSpPr>
        <p:spPr>
          <a:xfrm>
            <a:off x="6211639" y="3817665"/>
            <a:ext cx="1878657" cy="24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Geolocation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211639" y="4134148"/>
            <a:ext cx="2329979" cy="48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/crisis/locate/district</a:t>
            </a: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provides reverse geotagging using full Indian district GeoJSON dataset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4538"/>
            <a:ext cx="6150322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Gamification &amp; User Engagement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96119" y="1287884"/>
            <a:ext cx="815176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Consistent engagement is the foundation of long-term mental wellness. Mindsky uses a </a:t>
            </a: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reward-driven loop</a:t>
            </a: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motivate daily participation.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94904" y="2162770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Journal &amp; Reflect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96119" y="2512740"/>
            <a:ext cx="2436688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 XP per entry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408" y="1815852"/>
            <a:ext cx="2853110" cy="285311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1707" y="2319263"/>
            <a:ext cx="212080" cy="212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1119" y="2162770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Accumulate XP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211119" y="2512740"/>
            <a:ext cx="243676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1000 XP = level up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5408" y="1815852"/>
            <a:ext cx="2853110" cy="285311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82878" y="2562076"/>
            <a:ext cx="212080" cy="2120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11119" y="3695626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Level Up &amp; Celebrate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6211119" y="4045595"/>
            <a:ext cx="243676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Animated milestone screens</a:t>
            </a:r>
            <a:endParaRPr lang="en-US" sz="11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5408" y="1815852"/>
            <a:ext cx="2853110" cy="2853110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40064" y="3953247"/>
            <a:ext cx="212080" cy="2120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94904" y="3603501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Track Streaks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496119" y="3953470"/>
            <a:ext cx="2436688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Daily streak and emoji mood tracking</a:t>
            </a:r>
            <a:endParaRPr lang="en-US" sz="11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5408" y="1815852"/>
            <a:ext cx="2853110" cy="2853110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48894" y="3710434"/>
            <a:ext cx="212080" cy="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421258"/>
            <a:ext cx="6137300" cy="49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Dashboard, DevOps &amp; Observability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65162" y="1229395"/>
            <a:ext cx="1910507" cy="24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User Dashboard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65162" y="1602284"/>
            <a:ext cx="3944764" cy="334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rich, insight-driven interface delivering holistic mental health context at a glance.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643214" y="1104826"/>
            <a:ext cx="4136008" cy="2819549"/>
          </a:xfrm>
          <a:prstGeom prst="roundRect">
            <a:avLst>
              <a:gd name="adj" fmla="val 3394"/>
            </a:avLst>
          </a:prstGeom>
          <a:solidFill>
            <a:srgbClr val="532418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776118" y="1229395"/>
            <a:ext cx="2178844" cy="24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Production Infrastructure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61830" y="1603549"/>
            <a:ext cx="28575" cy="123825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8" name="Text 6"/>
          <p:cNvSpPr/>
          <p:nvPr/>
        </p:nvSpPr>
        <p:spPr>
          <a:xfrm>
            <a:off x="4937596" y="1617836"/>
            <a:ext cx="1695748" cy="24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Containerisation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596" y="1990725"/>
            <a:ext cx="1695748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Docker Compose with persistent volumes for MongoDB, Redis, PostGIS, ChromaDB, and Grafana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74805" y="1603549"/>
            <a:ext cx="28575" cy="123825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1" name="Text 9"/>
          <p:cNvSpPr/>
          <p:nvPr/>
        </p:nvSpPr>
        <p:spPr>
          <a:xfrm>
            <a:off x="6950571" y="1617836"/>
            <a:ext cx="1695748" cy="24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Kubernetes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50571" y="1990725"/>
            <a:ext cx="1695748" cy="683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manifests, dynamic secrets from </a:t>
            </a:r>
            <a:r>
              <a:rPr lang="en-US" sz="1000" dirty="0">
                <a:solidFill>
                  <a:srgbClr val="FFFFFF"/>
                </a:solidFill>
                <a:highlight>
                  <a:srgbClr val="6031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automated </a:t>
            </a:r>
            <a:r>
              <a:rPr lang="en-US" sz="1000" dirty="0">
                <a:solidFill>
                  <a:srgbClr val="FFFFFF"/>
                </a:solidFill>
                <a:highlight>
                  <a:srgbClr val="6031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deploy.sh</a:t>
            </a: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/ </a:t>
            </a:r>
            <a:r>
              <a:rPr lang="en-US" sz="1000" dirty="0">
                <a:solidFill>
                  <a:srgbClr val="FFFFFF"/>
                </a:solidFill>
                <a:highlight>
                  <a:srgbClr val="6031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teardown.sh</a:t>
            </a: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scripts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61830" y="3062362"/>
            <a:ext cx="28575" cy="736178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596" y="3076649"/>
            <a:ext cx="1910507" cy="24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Monitoring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596" y="3449538"/>
            <a:ext cx="3708722" cy="334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Prometheus + Grafana + cAdvisor — including LLM latency and validation failure tracking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0875" y="4050209"/>
            <a:ext cx="28575" cy="686321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7" name="Text 15"/>
          <p:cNvSpPr/>
          <p:nvPr/>
        </p:nvSpPr>
        <p:spPr>
          <a:xfrm>
            <a:off x="626641" y="4064496"/>
            <a:ext cx="1910507" cy="24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Clinical Insights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641" y="4387528"/>
            <a:ext cx="3867448" cy="334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summary, severity explanation, key findings, and personalised recommendations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35550" y="4050209"/>
            <a:ext cx="28575" cy="686321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20" name="Text 18"/>
          <p:cNvSpPr/>
          <p:nvPr/>
        </p:nvSpPr>
        <p:spPr>
          <a:xfrm>
            <a:off x="4811316" y="4064496"/>
            <a:ext cx="1910507" cy="24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Wellness Tools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11316" y="4387528"/>
            <a:ext cx="3867522" cy="334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Journal viewer, ambient sound player, emoji mood log, and mini-games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7654" y="493514"/>
            <a:ext cx="3438897" cy="447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7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Results &amp; What's Next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847654" y="1192783"/>
            <a:ext cx="1719411" cy="223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50" dirty="0">
                <a:solidFill>
                  <a:srgbClr val="FF95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Achievements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2451" y="1537246"/>
            <a:ext cx="179412" cy="1794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36318" y="1529804"/>
            <a:ext cx="1719411" cy="223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9 Microservices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236318" y="1854250"/>
            <a:ext cx="1904256" cy="286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Fully integrated, from onboarding to crisis dispatch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2451" y="2349996"/>
            <a:ext cx="179412" cy="17941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236318" y="2342555"/>
            <a:ext cx="1719411" cy="223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Zero-Shot ML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236318" y="2667000"/>
            <a:ext cx="1904256" cy="286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labelled training data — fully extensible classifier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2451" y="3162746"/>
            <a:ext cx="179412" cy="17941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236318" y="3155305"/>
            <a:ext cx="1719411" cy="223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District-Level Routing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4236318" y="3479750"/>
            <a:ext cx="1904256" cy="286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PostGIS geospatial emergency coverage across India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6437188" y="1192783"/>
            <a:ext cx="1719411" cy="223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Future Roadmap</a:t>
            </a:r>
            <a:endParaRPr lang="en-US" sz="13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1986" y="1537246"/>
            <a:ext cx="179412" cy="17941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25853" y="1529804"/>
            <a:ext cx="1719411" cy="223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Mobile App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6825853" y="1854250"/>
            <a:ext cx="1904256" cy="286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Cross-platform iOS and Android experience</a:t>
            </a:r>
            <a:endParaRPr lang="en-US" sz="9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1986" y="2349996"/>
            <a:ext cx="179412" cy="17941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825853" y="2342555"/>
            <a:ext cx="1719411" cy="223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Therapist Dashboard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6825853" y="2667000"/>
            <a:ext cx="1904256" cy="286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Clinician-facing portal for longitudinal patient tracking</a:t>
            </a:r>
            <a:endParaRPr lang="en-US" sz="9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1986" y="3162746"/>
            <a:ext cx="179412" cy="17941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825853" y="3155305"/>
            <a:ext cx="1902916" cy="223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Multi-Language Support</a:t>
            </a:r>
            <a:endParaRPr lang="en-US" sz="1350" dirty="0"/>
          </a:p>
        </p:txBody>
      </p:sp>
      <p:sp>
        <p:nvSpPr>
          <p:cNvPr id="23" name="Text 14"/>
          <p:cNvSpPr/>
          <p:nvPr/>
        </p:nvSpPr>
        <p:spPr>
          <a:xfrm>
            <a:off x="6825853" y="3479750"/>
            <a:ext cx="1904256" cy="286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Expanding access across linguistic communities</a:t>
            </a:r>
            <a:endParaRPr lang="en-US" sz="900" dirty="0"/>
          </a:p>
        </p:txBody>
      </p:sp>
      <p:sp>
        <p:nvSpPr>
          <p:cNvPr id="24" name="Text 15"/>
          <p:cNvSpPr/>
          <p:nvPr/>
        </p:nvSpPr>
        <p:spPr>
          <a:xfrm>
            <a:off x="4027066" y="4106689"/>
            <a:ext cx="4698281" cy="429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to care. Engineered to scale.</a:t>
            </a: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Mindsky demonstrates that thoughtful AI and robust engineering can meaningfully close the global mental health care gap.</a:t>
            </a:r>
            <a:endParaRPr lang="en-US" sz="900" dirty="0"/>
          </a:p>
        </p:txBody>
      </p:sp>
      <p:sp>
        <p:nvSpPr>
          <p:cNvPr id="25" name="Shape 16"/>
          <p:cNvSpPr/>
          <p:nvPr/>
        </p:nvSpPr>
        <p:spPr>
          <a:xfrm>
            <a:off x="3847654" y="3993207"/>
            <a:ext cx="14288" cy="656704"/>
          </a:xfrm>
          <a:prstGeom prst="rect">
            <a:avLst/>
          </a:prstGeom>
          <a:solidFill>
            <a:srgbClr val="FF954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697</Words>
  <Application>Microsoft Office PowerPoint</Application>
  <PresentationFormat>On-screen Show (16:9)</PresentationFormat>
  <Paragraphs>122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Marcellus</vt:lpstr>
      <vt:lpstr>Montserrat</vt:lpstr>
      <vt:lpstr>Arial</vt:lpstr>
      <vt:lpstr>Marcellus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Sneha Sharma</cp:lastModifiedBy>
  <cp:revision>2</cp:revision>
  <dcterms:created xsi:type="dcterms:W3CDTF">2026-05-14T05:16:00Z</dcterms:created>
  <dcterms:modified xsi:type="dcterms:W3CDTF">2026-05-14T05:16:39Z</dcterms:modified>
</cp:coreProperties>
</file>